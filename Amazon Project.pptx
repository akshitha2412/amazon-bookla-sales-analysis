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73" r:id="rId12"/>
    <p:sldId id="274" r:id="rId13"/>
    <p:sldId id="281" r:id="rId14"/>
    <p:sldId id="275" r:id="rId15"/>
    <p:sldId id="276" r:id="rId16"/>
    <p:sldId id="277" r:id="rId17"/>
    <p:sldId id="278" r:id="rId18"/>
    <p:sldId id="282" r:id="rId19"/>
    <p:sldId id="283" r:id="rId20"/>
    <p:sldId id="284" r:id="rId21"/>
    <p:sldId id="285" r:id="rId22"/>
    <p:sldId id="279" r:id="rId23"/>
    <p:sldId id="259" r:id="rId24"/>
  </p:sldIdLst>
  <p:sldSz cx="12192000" cy="6858000"/>
  <p:notesSz cx="6858000" cy="9144000"/>
  <p:embeddedFontLst>
    <p:embeddedFont>
      <p:font typeface="Lato Black" panose="020F0502020204030203" pitchFamily="34" charset="0"/>
      <p:bold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D2871D-0323-46B3-B476-86F6D0D91D22}" v="9" dt="2026-01-31T06:57:34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370937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1" dirty="0"/>
              <a:t>Amazon Books Sales Analysis </a:t>
            </a: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E23F08-8A93-15B5-2B78-25EA67302F4C}"/>
              </a:ext>
            </a:extLst>
          </p:cNvPr>
          <p:cNvSpPr txBox="1"/>
          <p:nvPr/>
        </p:nvSpPr>
        <p:spPr>
          <a:xfrm>
            <a:off x="8792308" y="5564605"/>
            <a:ext cx="24819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BY:</a:t>
            </a:r>
          </a:p>
          <a:p>
            <a:r>
              <a:rPr lang="en-IN" dirty="0"/>
              <a:t>M.AKSHITHA</a:t>
            </a:r>
          </a:p>
          <a:p>
            <a:r>
              <a:rPr lang="en-IN" dirty="0"/>
              <a:t>BATCH NO:456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888538" y="1188640"/>
            <a:ext cx="70074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 Case &amp; Domain Understanding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Business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Objectives of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Web Scraping – Data Collection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Process Followed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Dataset Overview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Exploratory Data Analysis (EDA):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Univariate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Bivariate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Multivariate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Hypothesis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Conclusion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11449496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6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36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rgbClr val="FF0000"/>
              </a:buClr>
              <a:buSzPts val="4400"/>
            </a:pPr>
            <a:r>
              <a:rPr lang="en-US" b="1" dirty="0">
                <a:solidFill>
                  <a:srgbClr val="FF0000"/>
                </a:solidFill>
              </a:rPr>
              <a:t>Use Case &amp; Domain Understanding</a:t>
            </a:r>
            <a:br>
              <a:rPr lang="en-US" b="1" dirty="0">
                <a:solidFill>
                  <a:srgbClr val="FF0000"/>
                </a:solidFill>
              </a:rPr>
            </a:b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dirty="0"/>
              <a:t>The online book market on platforms like </a:t>
            </a:r>
            <a:r>
              <a:rPr lang="en-US" b="1" dirty="0"/>
              <a:t>Amazon</a:t>
            </a:r>
            <a:r>
              <a:rPr lang="en-US" dirty="0"/>
              <a:t> offers thousands of books across multiple categories, authors, formats (Paperback, Hardcover, Kindle, Audiobook), and price ranges.</a:t>
            </a:r>
          </a:p>
          <a:p>
            <a:pPr marL="114300" indent="0">
              <a:buNone/>
            </a:pPr>
            <a:r>
              <a:rPr lang="en-US" dirty="0"/>
              <a:t>This project focuses on analyzing </a:t>
            </a:r>
            <a:r>
              <a:rPr lang="en-US" b="1" dirty="0"/>
              <a:t>Amazon Books data</a:t>
            </a:r>
            <a:r>
              <a:rPr lang="en-US" dirty="0"/>
              <a:t> to understand how </a:t>
            </a:r>
            <a:r>
              <a:rPr lang="en-US" b="1" dirty="0"/>
              <a:t>price, ratings, reviews, and book formats</a:t>
            </a:r>
            <a:r>
              <a:rPr lang="en-US" dirty="0"/>
              <a:t> influence customer purchasing behavior and book popularity.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F9F55-51E6-17F1-D496-0C0BF27B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F25E9-DF2B-394B-1861-382C269B2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Online book buyers on e-commerce platforms like Amazon are faced with an overwhelming number of book options across multiple formats (Paperback, Hardcover, Kindle, Audiobook), price ranges, authors, and customer ratings. </a:t>
            </a:r>
          </a:p>
          <a:p>
            <a:r>
              <a:rPr lang="en-US" dirty="0"/>
              <a:t>Inconsistent pricing across similar books</a:t>
            </a:r>
          </a:p>
          <a:p>
            <a:r>
              <a:rPr lang="en-US" dirty="0"/>
              <a:t>Unclear relationship between price and customer ratings</a:t>
            </a:r>
          </a:p>
          <a:p>
            <a:r>
              <a:rPr lang="en-US" dirty="0"/>
              <a:t>Difficulty in identifying popular and highly rated books</a:t>
            </a:r>
          </a:p>
          <a:p>
            <a:r>
              <a:rPr lang="en-US" dirty="0"/>
              <a:t>Confusion between different book formats and their pricing</a:t>
            </a:r>
          </a:p>
          <a:p>
            <a:pPr marL="11430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73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1331-0158-789A-CBA3-A8F915F4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OBJECTIVE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18A3E-7DE2-2639-D9A7-CF3DD5922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Analyze the </a:t>
            </a:r>
            <a:r>
              <a:rPr lang="en-US" b="1" dirty="0"/>
              <a:t>price distribution</a:t>
            </a:r>
            <a:r>
              <a:rPr lang="en-US" dirty="0"/>
              <a:t> of books across different formats</a:t>
            </a:r>
          </a:p>
          <a:p>
            <a:r>
              <a:rPr lang="en-US" dirty="0"/>
              <a:t>Understand the relationship between </a:t>
            </a:r>
            <a:r>
              <a:rPr lang="en-US" b="1" dirty="0"/>
              <a:t>book price, ratings, and number of reviews</a:t>
            </a:r>
            <a:endParaRPr lang="en-US" dirty="0"/>
          </a:p>
          <a:p>
            <a:r>
              <a:rPr lang="en-US" dirty="0"/>
              <a:t>Identify </a:t>
            </a:r>
            <a:r>
              <a:rPr lang="en-US" b="1" dirty="0"/>
              <a:t>popular books and authors</a:t>
            </a:r>
            <a:r>
              <a:rPr lang="en-US" dirty="0"/>
              <a:t> based on ratings and review counts</a:t>
            </a:r>
          </a:p>
          <a:p>
            <a:r>
              <a:rPr lang="en-US" dirty="0"/>
              <a:t>Compare </a:t>
            </a:r>
            <a:r>
              <a:rPr lang="en-US" b="1" dirty="0"/>
              <a:t>book formats</a:t>
            </a:r>
            <a:r>
              <a:rPr lang="en-US" dirty="0"/>
              <a:t> (Paperback, Hardcover, Kindle, Audiobook) in terms of pricing and popularity</a:t>
            </a:r>
          </a:p>
          <a:p>
            <a:r>
              <a:rPr lang="en-US" dirty="0"/>
              <a:t>Categorize books into </a:t>
            </a:r>
            <a:r>
              <a:rPr lang="en-US" b="1" dirty="0"/>
              <a:t>price and rating segments</a:t>
            </a:r>
            <a:r>
              <a:rPr lang="en-US" dirty="0"/>
              <a:t> for better insights</a:t>
            </a:r>
          </a:p>
          <a:p>
            <a:r>
              <a:rPr lang="en-US" dirty="0"/>
              <a:t>Provide </a:t>
            </a:r>
            <a:r>
              <a:rPr lang="en-US" b="1" dirty="0"/>
              <a:t>actionable insights</a:t>
            </a:r>
            <a:r>
              <a:rPr lang="en-US" dirty="0"/>
              <a:t> to help customers make smarter purchasing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763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A619-FD86-ECD5-18DA-A1A78DF00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WEB SCRAPING -DETAILS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0C18F-8F86-3F74-541A-150FFB729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66577"/>
          </a:xfrm>
        </p:spPr>
        <p:txBody>
          <a:bodyPr>
            <a:normAutofit/>
          </a:bodyPr>
          <a:lstStyle/>
          <a:p>
            <a:r>
              <a:rPr lang="en-US" dirty="0"/>
              <a:t>The dataset for this project was collected by </a:t>
            </a:r>
            <a:r>
              <a:rPr lang="en-US" b="1" dirty="0"/>
              <a:t>web scraping Amazon book listings</a:t>
            </a:r>
            <a:r>
              <a:rPr lang="en-US" dirty="0"/>
              <a:t> using Python.</a:t>
            </a:r>
            <a:br>
              <a:rPr lang="en-US" dirty="0"/>
            </a:br>
            <a:r>
              <a:rPr lang="en-US" dirty="0"/>
              <a:t>Relevant information was extracted from multiple pages to ensure sufficient data volume and variety.</a:t>
            </a:r>
          </a:p>
          <a:p>
            <a:pPr marL="114300" indent="0">
              <a:buNone/>
            </a:pPr>
            <a:r>
              <a:rPr lang="en-US" b="1" dirty="0">
                <a:solidFill>
                  <a:srgbClr val="FF0000"/>
                </a:solidFill>
              </a:rPr>
              <a:t>TOOLS AND TECHNOLOGIES USED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Selenium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Webdriver</a:t>
            </a:r>
            <a:r>
              <a:rPr lang="en-US" dirty="0">
                <a:solidFill>
                  <a:schemeClr val="tx1"/>
                </a:solidFill>
              </a:rPr>
              <a:t>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Matplotlib and seaborn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01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72B4-324E-8BD7-F128-BAF5057C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rgbClr val="FF0000"/>
                </a:solidFill>
              </a:rPr>
              <a:t>PROCESS FOLLOWED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1EE27B-BFC9-B798-B355-A52766048B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595722"/>
            <a:ext cx="976281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required book attributes from Amazon listings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Scraped data across multiple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raw data by handling missing values and inconsistencies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text-based numeric fields into proper numerical formats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derived columns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Popularity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61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F3352-9B60-6C17-8B57-B866F7E9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06DFE-E918-D8DD-8ED9-442F72108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US" b="1" dirty="0"/>
              <a:t>Source:</a:t>
            </a:r>
            <a:r>
              <a:rPr lang="en-US" dirty="0"/>
              <a:t> Amazon India (Web Scraping using Selenium)</a:t>
            </a:r>
            <a:br>
              <a:rPr lang="en-US" dirty="0"/>
            </a:br>
            <a:r>
              <a:rPr lang="en-US" b="1" dirty="0"/>
              <a:t>Rows and columns: </a:t>
            </a:r>
            <a:r>
              <a:rPr lang="en-US" dirty="0"/>
              <a:t>Book listings with  attributes related to pricing, ratings, formats, and popularity</a:t>
            </a:r>
          </a:p>
          <a:p>
            <a:pPr marL="114300" indent="0">
              <a:buNone/>
            </a:pPr>
            <a:r>
              <a:rPr lang="en-US" dirty="0"/>
              <a:t> </a:t>
            </a:r>
            <a:r>
              <a:rPr lang="en-US" b="1" dirty="0"/>
              <a:t>Key Features:</a:t>
            </a:r>
            <a:br>
              <a:rPr lang="en-US" dirty="0"/>
            </a:br>
            <a:r>
              <a:rPr lang="en-US" dirty="0"/>
              <a:t>• Book Name – Title of the book</a:t>
            </a:r>
            <a:br>
              <a:rPr lang="en-US" dirty="0"/>
            </a:br>
            <a:r>
              <a:rPr lang="en-US" dirty="0"/>
              <a:t>• Author Name – Author(s) of the book</a:t>
            </a:r>
            <a:br>
              <a:rPr lang="en-US" dirty="0"/>
            </a:br>
            <a:r>
              <a:rPr lang="en-US" dirty="0"/>
              <a:t>• Price – Selling price of the book (₹)</a:t>
            </a:r>
            <a:br>
              <a:rPr lang="en-US" dirty="0"/>
            </a:br>
            <a:r>
              <a:rPr lang="en-US" dirty="0"/>
              <a:t>• Book Format – Paperback, Hardcover, Kindle Edition, Audiobook</a:t>
            </a:r>
            <a:br>
              <a:rPr lang="en-US" dirty="0"/>
            </a:br>
            <a:r>
              <a:rPr lang="en-US" dirty="0"/>
              <a:t>• Customer Feedback – Ratings and Number of Ratings</a:t>
            </a:r>
          </a:p>
          <a:p>
            <a:pPr marL="114300" indent="0">
              <a:buNone/>
            </a:pPr>
            <a:r>
              <a:rPr lang="en-US" b="1" dirty="0"/>
              <a:t>Data Types:</a:t>
            </a:r>
            <a:br>
              <a:rPr lang="en-US" dirty="0"/>
            </a:br>
            <a:r>
              <a:rPr lang="en-US" dirty="0"/>
              <a:t>Mix of numerical (price, rating, ratings count) and categorical (author, format, categories)</a:t>
            </a:r>
          </a:p>
          <a:p>
            <a:pPr marL="114300" indent="0">
              <a:buNone/>
            </a:pPr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analyze pricing patterns, book format trends, customer preferences, and value-for-money insights to support smarter book-buying decisions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64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59E3F-B52B-A920-5B48-664D6D73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SIMPLE DESCRIPTION OF EACH COLUMN IN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2C375-3CA7-86F9-81DC-D7DE4AF31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Book Name:-</a:t>
            </a:r>
            <a:r>
              <a:rPr lang="en-US" dirty="0"/>
              <a:t>Title of the book listed on Amazon</a:t>
            </a:r>
          </a:p>
          <a:p>
            <a:r>
              <a:rPr lang="en-US" b="1" dirty="0"/>
              <a:t>Author Name:-</a:t>
            </a:r>
            <a:r>
              <a:rPr lang="en-US" dirty="0"/>
              <a:t>Name of the author(s) who wrote the book</a:t>
            </a:r>
          </a:p>
          <a:p>
            <a:r>
              <a:rPr lang="en-US" b="1" dirty="0"/>
              <a:t>Price:-</a:t>
            </a:r>
            <a:r>
              <a:rPr lang="en-US" dirty="0"/>
              <a:t>Selling price of the book in Indian Rupees (₹)</a:t>
            </a:r>
          </a:p>
          <a:p>
            <a:r>
              <a:rPr lang="en-US" b="1" dirty="0"/>
              <a:t>Number Of Ratings: </a:t>
            </a:r>
            <a:r>
              <a:rPr lang="en-US" dirty="0"/>
              <a:t>Total number of customer ratings received for the book</a:t>
            </a:r>
          </a:p>
          <a:p>
            <a:r>
              <a:rPr lang="en-US" b="1" dirty="0"/>
              <a:t>Review (Rating):</a:t>
            </a:r>
            <a:r>
              <a:rPr lang="en-US" dirty="0"/>
              <a:t>Average customer rating of the book (out of 5)</a:t>
            </a:r>
          </a:p>
          <a:p>
            <a:r>
              <a:rPr lang="en-US" b="1" dirty="0"/>
              <a:t>Book Format: </a:t>
            </a:r>
            <a:r>
              <a:rPr lang="en-US" dirty="0"/>
              <a:t>Format in which the book is available (Paperback, Hardcover, Kindle Edition, Audiobook)</a:t>
            </a:r>
          </a:p>
          <a:p>
            <a:r>
              <a:rPr lang="en-US" dirty="0"/>
              <a:t> </a:t>
            </a:r>
            <a:r>
              <a:rPr lang="en-US" b="1" dirty="0"/>
              <a:t>Released Year: </a:t>
            </a:r>
            <a:r>
              <a:rPr lang="en-US" dirty="0"/>
              <a:t>Year or date when the book was published or released</a:t>
            </a:r>
          </a:p>
          <a:p>
            <a:r>
              <a:rPr lang="en-US" dirty="0"/>
              <a:t> </a:t>
            </a:r>
            <a:r>
              <a:rPr lang="en-US" b="1" dirty="0"/>
              <a:t>Price Category: </a:t>
            </a:r>
            <a:r>
              <a:rPr lang="en-US" dirty="0"/>
              <a:t>Price-based classification of books (Budget, Low-Mid, Mid, Upper-Mid, Premium)</a:t>
            </a:r>
          </a:p>
          <a:p>
            <a:r>
              <a:rPr lang="en-US" dirty="0"/>
              <a:t> </a:t>
            </a:r>
            <a:r>
              <a:rPr lang="en-US" b="1" dirty="0"/>
              <a:t>Rating Category: </a:t>
            </a:r>
            <a:r>
              <a:rPr lang="en-US" dirty="0"/>
              <a:t>Rating-based classification (Poor, Average, Good, Excellent)</a:t>
            </a:r>
          </a:p>
          <a:p>
            <a:r>
              <a:rPr lang="en-US" dirty="0"/>
              <a:t> </a:t>
            </a:r>
            <a:r>
              <a:rPr lang="en-US" b="1" dirty="0"/>
              <a:t>Popularity Category: </a:t>
            </a:r>
            <a:r>
              <a:rPr lang="en-US" dirty="0"/>
              <a:t>Popularity level based on number of ratings (Low, Medium, High, Very High)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294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8A06-CE1B-9F26-6FCA-39D016C872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CLEANED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D19A6E-45C5-8484-2F6B-E27E7D51F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64" y="1825625"/>
            <a:ext cx="12068069" cy="466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43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30BF-2EB9-EE1B-6F63-76300D14A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UNIVARIATE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E8987-85F1-ECD4-270B-0230CA3A4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15" y="2007059"/>
            <a:ext cx="4286459" cy="2843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02562C-23BE-751F-D908-6D1B8DDE1D9A}"/>
              </a:ext>
            </a:extLst>
          </p:cNvPr>
          <p:cNvSpPr txBox="1"/>
          <p:nvPr/>
        </p:nvSpPr>
        <p:spPr>
          <a:xfrm>
            <a:off x="6330462" y="4943789"/>
            <a:ext cx="46121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format-wise distribution shows a balanced demand across hardcover, digital, and audio formats, highlighting evolving reader preferences and strong multi-format consumption on Amazon.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8CEA4-6FC6-AC39-520D-B847AB8CBCD0}"/>
              </a:ext>
            </a:extLst>
          </p:cNvPr>
          <p:cNvSpPr txBox="1"/>
          <p:nvPr/>
        </p:nvSpPr>
        <p:spPr>
          <a:xfrm>
            <a:off x="1049215" y="5054321"/>
            <a:ext cx="46121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ratings count distribution shows that while most books receive moderate engagement, a small number of books attract exceptionally high popularity, indicating a right-skewed visibility pattern.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1CF8FD-FD82-EEF2-E043-2FFC23332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62" y="2043200"/>
            <a:ext cx="4976291" cy="265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51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8F6275-92A1-9152-5307-4390F30AB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7253"/>
            <a:ext cx="5014145" cy="3211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96105F-4E5A-D8B2-9A59-A4AF7840668B}"/>
              </a:ext>
            </a:extLst>
          </p:cNvPr>
          <p:cNvSpPr txBox="1"/>
          <p:nvPr/>
        </p:nvSpPr>
        <p:spPr>
          <a:xfrm>
            <a:off x="1175657" y="5020772"/>
            <a:ext cx="4676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rating distribution clearly shows that most Amazon books receive good to excellent customer ratings, indicating high content quality and strong reader satisfaction.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3B85B-98F2-CD57-A5BF-02EDE1854785}"/>
              </a:ext>
            </a:extLst>
          </p:cNvPr>
          <p:cNvSpPr txBox="1"/>
          <p:nvPr/>
        </p:nvSpPr>
        <p:spPr>
          <a:xfrm>
            <a:off x="6546500" y="5020772"/>
            <a:ext cx="43341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price distribution shows that most Amazon books are priced in the mid-range, indicating strong demand for affordable yet high-quality books, with limited presence of premium-priced titles.</a:t>
            </a:r>
            <a:endParaRPr lang="en-IN" dirty="0"/>
          </a:p>
          <a:p>
            <a:r>
              <a:rPr lang="en-US" dirty="0"/>
              <a:t>    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4A2B7A-39C0-153F-18A7-25EF4784A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16818"/>
            <a:ext cx="4784689" cy="330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47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57A4AD0-8211-DCB0-5FA1-555746BF0B0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34496" y="4972785"/>
            <a:ext cx="10893425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Physical and digital formats coexist strongly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Hardcover dominance suggests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premium positioning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Kindle and Audiobook formats indicate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technology-driven reading habits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Paperback availability is comparatively lower in this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D07F60-52CB-0266-D81C-66990A84D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212"/>
            <a:ext cx="10758436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96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219F0-64FD-6062-568D-D0957923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395EE-D1FB-FBBF-E8B9-1B629118C355}"/>
              </a:ext>
            </a:extLst>
          </p:cNvPr>
          <p:cNvSpPr txBox="1"/>
          <p:nvPr/>
        </p:nvSpPr>
        <p:spPr>
          <a:xfrm>
            <a:off x="838200" y="4767227"/>
            <a:ext cx="53683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premium books generally maintain strong ratings, the Upper-Mid price category stands out as the most reliable segment, offering consistently high customer satisfaction. Lower-priced books show greater variability, highlighting opportunities for identifying hidden value titles as well as quality risks.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288111-F077-7185-CE1E-AAF8B578D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24" y="1627204"/>
            <a:ext cx="5227184" cy="300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5090A5F-CBEF-F673-D7AE-F3AEA09DB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384" y="1598657"/>
            <a:ext cx="4838177" cy="312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E78FDA-85A4-854B-75E3-E6BD20ADFA3D}"/>
              </a:ext>
            </a:extLst>
          </p:cNvPr>
          <p:cNvSpPr txBox="1"/>
          <p:nvPr/>
        </p:nvSpPr>
        <p:spPr>
          <a:xfrm>
            <a:off x="6561574" y="4874948"/>
            <a:ext cx="43419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validates both the pricing structure and business segmentation. This insight helps stakeholders confidently design pricing tiers, promotions, and inventory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755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A1421A-F355-1EFF-2A61-CB0D103880B7}"/>
              </a:ext>
            </a:extLst>
          </p:cNvPr>
          <p:cNvSpPr txBox="1"/>
          <p:nvPr/>
        </p:nvSpPr>
        <p:spPr>
          <a:xfrm>
            <a:off x="1185705" y="4710390"/>
            <a:ext cx="10269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Consistently High Author Ratings   </a:t>
            </a:r>
            <a:r>
              <a:rPr lang="en-US" dirty="0"/>
              <a:t>Reader Trust in Certain Authors </a:t>
            </a:r>
            <a:r>
              <a:rPr lang="en-IN" dirty="0"/>
              <a:t>Non-Fiction &amp; Self-Development Dominance</a:t>
            </a:r>
          </a:p>
          <a:p>
            <a:r>
              <a:rPr lang="en-IN" dirty="0"/>
              <a:t>Quality Over Quantity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64EB81B-D6E4-1121-8F6F-FF650F6BB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950" y="956703"/>
            <a:ext cx="10098594" cy="3351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169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E23B-7CFD-FE03-9240-49E138373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MULTIVARIATE 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6CAFF1-BA78-9385-F27C-35284894E20A}"/>
              </a:ext>
            </a:extLst>
          </p:cNvPr>
          <p:cNvSpPr txBox="1"/>
          <p:nvPr/>
        </p:nvSpPr>
        <p:spPr>
          <a:xfrm>
            <a:off x="1075174" y="5301376"/>
            <a:ext cx="9746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This multivariate analysis shows that </a:t>
            </a:r>
            <a:r>
              <a:rPr lang="en-US" sz="1800" b="1" dirty="0"/>
              <a:t>book format and format type mildly influence customer ratings</a:t>
            </a:r>
            <a:r>
              <a:rPr lang="en-US" sz="1800" dirty="0"/>
              <a:t>, with </a:t>
            </a:r>
            <a:r>
              <a:rPr lang="en-US" sz="1800" b="1" dirty="0"/>
              <a:t>physical books and audiobooks performing slightly better</a:t>
            </a:r>
            <a:r>
              <a:rPr lang="en-US" sz="1800" dirty="0"/>
              <a:t> in terms of consistency and median ratings. However, overall customer satisfaction remains </a:t>
            </a:r>
            <a:r>
              <a:rPr lang="en-US" sz="1800" b="1" dirty="0"/>
              <a:t>high across all formats</a:t>
            </a:r>
            <a:r>
              <a:rPr lang="en-US" sz="1800" dirty="0"/>
              <a:t>, making format diversification a strong strategy for Amazon Books.</a:t>
            </a:r>
            <a:endParaRPr lang="en-IN" sz="1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A365081-0481-1265-579D-63209596D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2" y="1316577"/>
            <a:ext cx="11759921" cy="386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431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D713E-65FC-FBB0-5C4A-9D33A110A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35" y="1127980"/>
            <a:ext cx="9344967" cy="300445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BC5C18C-B90B-C07C-A468-FED0A3DC4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71" y="4677398"/>
            <a:ext cx="975025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Price alone is a poor indicator of customer satisfaction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Popularity (ratings count) strongly drives perceived value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Older books remain relevant and valuable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Value-for-money perception depends more on social proof than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64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E8CE-34E3-403B-63A4-E64FC816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HYPOTHESIS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D0006-E355-DEA4-31BC-56DA27F27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0098" y="5124902"/>
            <a:ext cx="12873993" cy="1733098"/>
          </a:xfrm>
        </p:spPr>
        <p:txBody>
          <a:bodyPr>
            <a:normAutofit/>
          </a:bodyPr>
          <a:lstStyle/>
          <a:p>
            <a:r>
              <a:rPr lang="en-US" sz="2400"/>
              <a:t>It </a:t>
            </a:r>
            <a:r>
              <a:rPr lang="en-US" sz="2400" dirty="0"/>
              <a:t>confirms that book prices differ significantly across price categories, validating clear and meaningful segmentation from budget to premium books.”</a:t>
            </a:r>
            <a:endParaRPr lang="en-IN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B7A7A37-F171-D6D3-2490-BFA683AB7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96" y="1537246"/>
            <a:ext cx="10295374" cy="3783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222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6CC3A8-C369-A5DD-7928-A474D0D09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40" y="1319034"/>
            <a:ext cx="9666515" cy="29538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3C9BE4-D621-75DE-1AC7-3A4724CAC624}"/>
              </a:ext>
            </a:extLst>
          </p:cNvPr>
          <p:cNvSpPr txBox="1"/>
          <p:nvPr/>
        </p:nvSpPr>
        <p:spPr>
          <a:xfrm>
            <a:off x="1406768" y="5102966"/>
            <a:ext cx="9395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Customer ratings do not significantly differ across book formats, indicating that content quality outweighs format preference in driving reader satisfaction.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03774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DC8108-1141-B987-1427-0CC015F8F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442" y="653592"/>
            <a:ext cx="8793168" cy="3666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4F6690-2925-C830-9DA7-CC00499C4EF0}"/>
              </a:ext>
            </a:extLst>
          </p:cNvPr>
          <p:cNvSpPr txBox="1"/>
          <p:nvPr/>
        </p:nvSpPr>
        <p:spPr>
          <a:xfrm>
            <a:off x="723481" y="5004079"/>
            <a:ext cx="90535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Different book formats attract different levels of popularity.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All formats are not equally liked by readers.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Hardcover and Audiobook versions are most common in the “Medium” and “High” popularity range.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619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92595A4-FB7D-6CD7-2980-BEE4FDBF0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25" y="0"/>
            <a:ext cx="1193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3893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608F-C15E-B1BB-46F4-3C5A25882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B42FC-E10F-4BCA-6C78-67E71F890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performed an end-to-end </a:t>
            </a:r>
            <a:r>
              <a:rPr lang="en-US" b="1" dirty="0"/>
              <a:t>Exploratory Data Analysis (EDA)</a:t>
            </a:r>
            <a:r>
              <a:rPr lang="en-US" dirty="0"/>
              <a:t> on Amazon Books data to understand </a:t>
            </a:r>
            <a:r>
              <a:rPr lang="en-US" b="1" dirty="0"/>
              <a:t>pricing behavior, customer ratings, popularity trends, and value-for-money patterns</a:t>
            </a:r>
            <a:r>
              <a:rPr lang="en-US" dirty="0"/>
              <a:t> across different book formats and categories.</a:t>
            </a:r>
          </a:p>
          <a:p>
            <a:r>
              <a:rPr lang="en-US" dirty="0"/>
              <a:t>The analysis revealed that </a:t>
            </a:r>
            <a:r>
              <a:rPr lang="en-US" b="1" dirty="0"/>
              <a:t>book format plays a significant role</a:t>
            </a:r>
            <a:r>
              <a:rPr lang="en-US" dirty="0"/>
              <a:t> in pricing and customer engagement. Digital formats such as </a:t>
            </a:r>
            <a:r>
              <a:rPr lang="en-US" b="1" dirty="0"/>
              <a:t>Kindle and Audiobooks</a:t>
            </a:r>
            <a:r>
              <a:rPr lang="en-US" dirty="0"/>
              <a:t> are generally priced lower but receive </a:t>
            </a:r>
            <a:r>
              <a:rPr lang="en-US" b="1" dirty="0"/>
              <a:t>higher ratings and engagement</a:t>
            </a:r>
            <a:r>
              <a:rPr lang="en-US" dirty="0"/>
              <a:t>, while </a:t>
            </a:r>
            <a:r>
              <a:rPr lang="en-US" b="1" dirty="0"/>
              <a:t>physical formats</a:t>
            </a:r>
            <a:r>
              <a:rPr lang="en-US" dirty="0"/>
              <a:t> (Hardcover and Paperback) tend to be priced higher with comparatively moderate ratings.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0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1149</Words>
  <Application>Microsoft Office PowerPoint</Application>
  <PresentationFormat>Widescreen</PresentationFormat>
  <Paragraphs>97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Lato Black</vt:lpstr>
      <vt:lpstr>Libre Baskerville</vt:lpstr>
      <vt:lpstr>Arial</vt:lpstr>
      <vt:lpstr>Office Theme</vt:lpstr>
      <vt:lpstr>PowerPoint Presentation</vt:lpstr>
      <vt:lpstr>PowerPoint Presentation</vt:lpstr>
      <vt:lpstr>Use Case &amp; Domain Understanding </vt:lpstr>
      <vt:lpstr>BUSINESS PROBLEM</vt:lpstr>
      <vt:lpstr>OBJECTIVE OF THE PROJECT</vt:lpstr>
      <vt:lpstr>WEB SCRAPING -DETAILS</vt:lpstr>
      <vt:lpstr>PROCESS FOLLOWED</vt:lpstr>
      <vt:lpstr>DATASET OVERVIEW</vt:lpstr>
      <vt:lpstr>SIMPLE DESCRIPTION OF EACH COLUMN IN DATASET</vt:lpstr>
      <vt:lpstr>CLEANED DATASET</vt:lpstr>
      <vt:lpstr>UNIVARIATE ANALYSIS</vt:lpstr>
      <vt:lpstr>PowerPoint Presentation</vt:lpstr>
      <vt:lpstr>PowerPoint Presentation</vt:lpstr>
      <vt:lpstr>BIVARIATE ANALYSIS</vt:lpstr>
      <vt:lpstr>PowerPoint Presentation</vt:lpstr>
      <vt:lpstr>MULTIVARIATE  ANALYSIS</vt:lpstr>
      <vt:lpstr>PowerPoint Presentation</vt:lpstr>
      <vt:lpstr>HYPOTHESIS TESTING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Akshitha Manne</cp:lastModifiedBy>
  <cp:revision>3</cp:revision>
  <dcterms:created xsi:type="dcterms:W3CDTF">2021-02-16T05:19:01Z</dcterms:created>
  <dcterms:modified xsi:type="dcterms:W3CDTF">2026-01-31T09:39:14Z</dcterms:modified>
</cp:coreProperties>
</file>